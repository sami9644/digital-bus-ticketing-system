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9" r:id="rId5"/>
    <p:sldId id="258" r:id="rId6"/>
    <p:sldId id="261" r:id="rId7"/>
    <p:sldId id="262" r:id="rId8"/>
    <p:sldId id="263" r:id="rId9"/>
    <p:sldId id="264" r:id="rId10"/>
    <p:sldId id="267" r:id="rId11"/>
    <p:sldId id="268" r:id="rId12"/>
    <p:sldId id="269" r:id="rId13"/>
    <p:sldId id="270" r:id="rId14"/>
    <p:sldId id="271" r:id="rId15"/>
    <p:sldId id="273"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showGuides="1">
      <p:cViewPr varScale="1">
        <p:scale>
          <a:sx n="53" d="100"/>
          <a:sy n="53" d="100"/>
        </p:scale>
        <p:origin x="180" y="5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nSpc>
                <a:spcPct val="0"/>
              </a:lnSpc>
            </a:pPr>
            <a:r>
              <a:rPr lang="en-US" b="1" u="sng" dirty="0"/>
              <a:t>Digital bus ticket system</a:t>
            </a:r>
            <a:endParaRPr lang="en-US" b="1" u="sng" dirty="0"/>
          </a:p>
        </p:txBody>
      </p:sp>
      <p:sp>
        <p:nvSpPr>
          <p:cNvPr id="3" name="Subtitle 2"/>
          <p:cNvSpPr>
            <a:spLocks noGrp="1"/>
          </p:cNvSpPr>
          <p:nvPr>
            <p:ph type="subTitle" idx="1"/>
          </p:nvPr>
        </p:nvSpPr>
        <p:spPr/>
        <p:txBody>
          <a:bodyPr/>
          <a:lstStyle/>
          <a:p>
            <a:pPr algn="r"/>
            <a:r>
              <a:rPr lang="en-US"/>
              <a:t>By samuel Getachew </a:t>
            </a:r>
            <a:endParaRPr lang="en-US"/>
          </a:p>
          <a:p>
            <a:pPr algn="r"/>
            <a:r>
              <a:rPr lang="en-US"/>
              <a:t>freelancer and AI graduate</a:t>
            </a:r>
            <a:endParaRPr lang="en-US"/>
          </a:p>
          <a:p>
            <a:pPr algn="r"/>
            <a:r>
              <a:rPr lang="en-US"/>
              <a:t>14/01/2026</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u="sng"/>
              <a:t>1.1 About me</a:t>
            </a:r>
            <a:endParaRPr lang="en-US" b="1" u="sng"/>
          </a:p>
        </p:txBody>
      </p:sp>
      <p:sp>
        <p:nvSpPr>
          <p:cNvPr id="3" name="Content Placeholder 2"/>
          <p:cNvSpPr>
            <a:spLocks noGrp="1"/>
          </p:cNvSpPr>
          <p:nvPr>
            <p:ph idx="1"/>
          </p:nvPr>
        </p:nvSpPr>
        <p:spPr/>
        <p:txBody>
          <a:bodyPr/>
          <a:p>
            <a:pPr algn="just"/>
            <a:r>
              <a:rPr lang="en-US"/>
              <a:t>I am samuel Getachew and i am a freelancer in website development,app development and graphics design. I have been graduated in computer science engineering AI specialization at Jain deemed to be university India.</a:t>
            </a:r>
            <a:endParaRPr lang="en-US"/>
          </a:p>
          <a:p>
            <a:pPr algn="just"/>
            <a:r>
              <a:rPr lang="en-US"/>
              <a:t>I have worked on various projects like health care chatbot, face recognition attendance system, Chat app, social media app etc...</a:t>
            </a:r>
            <a:endParaRPr lang="en-US"/>
          </a:p>
          <a:p>
            <a:pPr algn="just"/>
            <a:r>
              <a:rPr lang="en-US"/>
              <a:t>I am passionate in tech related fields like software development, web based app development.</a:t>
            </a:r>
            <a:endParaRPr lang="en-US"/>
          </a:p>
          <a:p>
            <a:pPr algn="l"/>
            <a:r>
              <a:rPr lang="en-US"/>
              <a:t>I worked using various programming languages like python,php,nodeJS,c++ etc..</a:t>
            </a: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u="sng"/>
              <a:t>1.2 Key challenges for invigilator</a:t>
            </a:r>
            <a:endParaRPr lang="en-US" b="1" u="sng"/>
          </a:p>
        </p:txBody>
      </p:sp>
      <p:sp>
        <p:nvSpPr>
          <p:cNvPr id="3" name="Content Placeholder 2"/>
          <p:cNvSpPr>
            <a:spLocks noGrp="1"/>
          </p:cNvSpPr>
          <p:nvPr>
            <p:ph idx="1"/>
          </p:nvPr>
        </p:nvSpPr>
        <p:spPr/>
        <p:txBody>
          <a:bodyPr>
            <a:normAutofit lnSpcReduction="10000"/>
          </a:bodyPr>
          <a:p>
            <a:r>
              <a:rPr lang="en-US" altLang="en-US" sz="2400" b="1"/>
              <a:t>Fraud and Counterfeiting:</a:t>
            </a:r>
            <a:r>
              <a:rPr lang="en-US" altLang="en-US" sz="2400"/>
              <a:t> Paper tickets are significantly easier to forge than digital.Inspectors must constantly check for subtle details like watermarks, dates, or textures that can be faked.</a:t>
            </a:r>
            <a:endParaRPr lang="en-US" altLang="en-US" sz="2400"/>
          </a:p>
          <a:p>
            <a:r>
              <a:rPr lang="en-US" altLang="en-US" sz="2400" b="1"/>
              <a:t>Hygiene and Physical Handling:</a:t>
            </a:r>
            <a:r>
              <a:rPr lang="en-US" altLang="en-US" sz="2400"/>
              <a:t> Especially in a post-pandemic context, the need to physically touch and inspect hundreds of discarded or handled paper slips poses a health risk and is generally inefficient.</a:t>
            </a:r>
            <a:endParaRPr lang="en-US" altLang="en-US" sz="2400"/>
          </a:p>
          <a:p>
            <a:r>
              <a:rPr lang="en-US" altLang="en-US" sz="2400" b="1"/>
              <a:t>Conflict Situations: </a:t>
            </a:r>
            <a:r>
              <a:rPr lang="en-US" altLang="en-US" sz="2400"/>
              <a:t>Paper tickets are fragile. If a ticket is torn, wet, or faded, it can lead to disputes between the inspector and the passenger regarding its validity, sometimes escalating into verbal or physical abuse.</a:t>
            </a:r>
            <a:endParaRPr lang="en-US" altLang="en-US" sz="2400"/>
          </a:p>
          <a:p>
            <a:r>
              <a:rPr lang="en-US" altLang="en-US" sz="2400" b="1"/>
              <a:t>Data Gaps:</a:t>
            </a:r>
            <a:r>
              <a:rPr lang="en-US" altLang="en-US" sz="2400"/>
              <a:t> Unlike digital systems, disposable tickets provide no real-time data. Inspectors cannot see "live" passenger loads, making it harder to spot patterns of fare evasion in specific zones. </a:t>
            </a:r>
            <a:endParaRPr lang="en-US" altLang="en-US" sz="24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u="sng"/>
              <a:t>1.2 Key challenges for the client</a:t>
            </a:r>
            <a:endParaRPr lang="en-US" b="1" u="sng"/>
          </a:p>
        </p:txBody>
      </p:sp>
      <p:sp>
        <p:nvSpPr>
          <p:cNvPr id="3" name="Content Placeholder 2"/>
          <p:cNvSpPr>
            <a:spLocks noGrp="1"/>
          </p:cNvSpPr>
          <p:nvPr>
            <p:ph idx="1"/>
          </p:nvPr>
        </p:nvSpPr>
        <p:spPr/>
        <p:txBody>
          <a:bodyPr/>
          <a:p>
            <a:r>
              <a:rPr lang="en-US" altLang="en-US" sz="2400" b="1"/>
              <a:t>Fragility and Loss:</a:t>
            </a:r>
            <a:r>
              <a:rPr lang="en-US" altLang="en-US" sz="2400"/>
              <a:t> Paper tickets are easily lost, crumpled, or ruined by moisture. If a passenger loses their ticket mid-journey, they are often treated as a fare evader and forced to pay a fine, even if they originally paid.</a:t>
            </a:r>
            <a:endParaRPr lang="en-US" altLang="en-US" sz="2400"/>
          </a:p>
          <a:p>
            <a:r>
              <a:rPr lang="en-US" altLang="en-US" sz="2400" b="1"/>
              <a:t>"Exact Change" Barriers:</a:t>
            </a:r>
            <a:r>
              <a:rPr lang="en-US" altLang="en-US" sz="2400"/>
              <a:t> Many paper systems still rely on cash. For the modern client, the lack of digital payment options for a disposable ticket is a major friction point.</a:t>
            </a:r>
            <a:endParaRPr lang="en-US" altLang="en-US" sz="2400"/>
          </a:p>
          <a:p>
            <a:r>
              <a:rPr lang="en-US" altLang="en-US" sz="2400" b="1"/>
              <a:t>Environmental Guilt:</a:t>
            </a:r>
            <a:r>
              <a:rPr lang="en-US" altLang="en-US" sz="2400"/>
              <a:t> There is an increasing "green" consciousness among clients. The sight of thousands of discarded paper tickets at bus stops is seen as wasteful and environmentally unfriendly.</a:t>
            </a:r>
            <a:endParaRPr lang="en-US" altLang="en-US" sz="24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b="1" u="sng"/>
              <a:t>1.3 Solutions for the Invigilator</a:t>
            </a:r>
            <a:endParaRPr lang="en-US" altLang="en-US" b="1" u="sng"/>
          </a:p>
        </p:txBody>
      </p:sp>
      <p:sp>
        <p:nvSpPr>
          <p:cNvPr id="3" name="Content Placeholder 2"/>
          <p:cNvSpPr>
            <a:spLocks noGrp="1"/>
          </p:cNvSpPr>
          <p:nvPr>
            <p:ph idx="1"/>
          </p:nvPr>
        </p:nvSpPr>
        <p:spPr/>
        <p:txBody>
          <a:bodyPr/>
          <a:p>
            <a:r>
              <a:rPr lang="en-US" altLang="en-US" sz="2400" b="1"/>
              <a:t>Instant Validation: </a:t>
            </a:r>
            <a:r>
              <a:rPr lang="en-US" altLang="en-US" sz="2400"/>
              <a:t>inspectors check verification text SMS of each client’s digitally or the passengers will show their ticket from their mobile app.</a:t>
            </a:r>
            <a:endParaRPr lang="en-US" altLang="en-US" sz="2400" b="1"/>
          </a:p>
          <a:p>
            <a:r>
              <a:rPr lang="en-US" altLang="en-US" sz="2400" b="1"/>
              <a:t>Encryption &amp; Security:</a:t>
            </a:r>
            <a:r>
              <a:rPr lang="en-US" altLang="en-US" sz="2400"/>
              <a:t> Digital tickets are tied to unique user IDs and encrypted, making them nearly impossible to forge compared to simple paper slips.</a:t>
            </a:r>
            <a:endParaRPr lang="en-US" altLang="en-US" sz="2400"/>
          </a:p>
          <a:p>
            <a:r>
              <a:rPr lang="en-US" altLang="en-US" sz="2400" b="1"/>
              <a:t>Reduced Conflict: </a:t>
            </a:r>
            <a:r>
              <a:rPr lang="en-US" altLang="en-US" sz="2400"/>
              <a:t>Since the app keeps a perfect digital log, there is no ambiguity about "faded ink" or "torn paper." The inspector has a clear, unarguable status on their screen.</a:t>
            </a:r>
            <a:endParaRPr lang="en-US" altLang="en-US" sz="2400"/>
          </a:p>
          <a:p>
            <a:r>
              <a:rPr lang="en-US" altLang="en-US" sz="2400" b="1"/>
              <a:t>Contactless Safety:</a:t>
            </a:r>
            <a:r>
              <a:rPr lang="en-US" altLang="en-US" sz="2400"/>
              <a:t> Validation happens from a distance only from the user mobile app or seeing verification text message on the user’s phone</a:t>
            </a:r>
            <a:endParaRPr lang="en-US" altLang="en-US" sz="24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u="sng"/>
              <a:t>1.3</a:t>
            </a:r>
            <a:r>
              <a:rPr lang="en-US" altLang="en-US" b="1" u="sng"/>
              <a:t>Solutions for the Client (Passenger)</a:t>
            </a:r>
            <a:endParaRPr lang="en-US" altLang="en-US" b="1" u="sng"/>
          </a:p>
        </p:txBody>
      </p:sp>
      <p:sp>
        <p:nvSpPr>
          <p:cNvPr id="3" name="Content Placeholder 2"/>
          <p:cNvSpPr>
            <a:spLocks noGrp="1"/>
          </p:cNvSpPr>
          <p:nvPr>
            <p:ph idx="1"/>
          </p:nvPr>
        </p:nvSpPr>
        <p:spPr/>
        <p:txBody>
          <a:bodyPr/>
          <a:p>
            <a:r>
              <a:rPr lang="en-US" altLang="en-US" sz="2400" b="1"/>
              <a:t>Portability &amp; Durability: </a:t>
            </a:r>
            <a:r>
              <a:rPr lang="en-US" altLang="en-US" sz="2400"/>
              <a:t>The ticket lives on the passenger’s smartphone—a device they are already carrying and unlikely to leave behind. It cannot be "lost" in a pocket or ruined by rain.</a:t>
            </a:r>
            <a:endParaRPr lang="en-US" altLang="en-US" sz="2400"/>
          </a:p>
          <a:p>
            <a:r>
              <a:rPr lang="en-US" altLang="en-US" sz="2400" b="1"/>
              <a:t>Account-Based Recovery:</a:t>
            </a:r>
            <a:r>
              <a:rPr lang="en-US" altLang="en-US" sz="2400"/>
              <a:t> If a passenger loses their phone, they can simply log into the app on a new device. Their ticket and balance are safely stored in the cloud, not tied to a piece of paper.</a:t>
            </a:r>
            <a:endParaRPr lang="en-US" altLang="en-US" sz="2400"/>
          </a:p>
          <a:p>
            <a:r>
              <a:rPr lang="en-US" altLang="en-US" sz="2400" b="1"/>
              <a:t>Sustainability:</a:t>
            </a:r>
            <a:r>
              <a:rPr lang="en-US" altLang="en-US" sz="2400"/>
              <a:t> Digital ticketing is 100% paperless, satisfying the client's desire for environmentally friendly travel options and reducing street litter.</a:t>
            </a:r>
            <a:endParaRPr lang="en-US" altLang="en-US" sz="24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u="sng"/>
              <a:t>1.4 How the system works</a:t>
            </a:r>
            <a:endParaRPr lang="en-US" b="1" u="sng"/>
          </a:p>
        </p:txBody>
      </p:sp>
      <p:sp>
        <p:nvSpPr>
          <p:cNvPr id="3" name="Content Placeholder 2"/>
          <p:cNvSpPr>
            <a:spLocks noGrp="1"/>
          </p:cNvSpPr>
          <p:nvPr>
            <p:ph idx="1"/>
          </p:nvPr>
        </p:nvSpPr>
        <p:spPr/>
        <p:txBody>
          <a:bodyPr/>
          <a:p>
            <a:r>
              <a:rPr lang="en-US"/>
              <a:t>The admin(ticketer) will first login using admin account and will generate ticket for each bus using their plate number and the ticket id will be in platenodate format making it unique.</a:t>
            </a:r>
            <a:endParaRPr lang="en-US"/>
          </a:p>
          <a:p>
            <a:r>
              <a:rPr lang="en-US"/>
              <a:t>then the users will register and login using their mobile and then the user will scan today’s ticket from the ticketer then pay and board</a:t>
            </a:r>
            <a:endParaRPr lang="en-US"/>
          </a:p>
          <a:p>
            <a:r>
              <a:rPr lang="en-US"/>
              <a:t>the invigilator then can check each passenger’s mobile app whether they paid or not</a:t>
            </a:r>
            <a:endParaRPr lang="en-US"/>
          </a:p>
          <a:p>
            <a:pPr marL="0" indent="0">
              <a:buNone/>
            </a:pPr>
            <a:r>
              <a:rPr lang="en-US" b="1" u="sng"/>
              <a:t>N.B</a:t>
            </a:r>
            <a:r>
              <a:rPr lang="en-US" b="1"/>
              <a:t> </a:t>
            </a:r>
            <a:r>
              <a:rPr lang="en-US"/>
              <a:t>the ticketer can generate ticket for 1 day the next day new ticket must be generated</a:t>
            </a:r>
            <a:r>
              <a:rPr lang="en-US" b="1"/>
              <a:t>.</a:t>
            </a:r>
            <a:endParaRPr lang="en-US" b="1"/>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b="1" u="sng"/>
              <a:t>1.5 Key Features</a:t>
            </a:r>
            <a:endParaRPr lang="en-US" altLang="en-US" b="1" u="sng"/>
          </a:p>
        </p:txBody>
      </p:sp>
      <p:sp>
        <p:nvSpPr>
          <p:cNvPr id="3" name="Content Placeholder 2"/>
          <p:cNvSpPr>
            <a:spLocks noGrp="1"/>
          </p:cNvSpPr>
          <p:nvPr>
            <p:ph idx="1"/>
          </p:nvPr>
        </p:nvSpPr>
        <p:spPr/>
        <p:txBody>
          <a:bodyPr/>
          <a:p>
            <a:r>
              <a:rPr lang="en-US"/>
              <a:t>easy and contactless ticket purchase</a:t>
            </a:r>
            <a:endParaRPr lang="en-US"/>
          </a:p>
          <a:p>
            <a:r>
              <a:rPr lang="en-US"/>
              <a:t>contactless payment using digital wallet like telebirr,mpesa,cbe etc..</a:t>
            </a:r>
            <a:endParaRPr lang="en-US"/>
          </a:p>
          <a:p>
            <a:r>
              <a:rPr lang="en-US"/>
              <a:t>easy to verify for the bus ticket invigilator/inspector.</a:t>
            </a: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b="1" u="sng"/>
              <a:t>1.6 Technology Stack (High-Level)</a:t>
            </a:r>
            <a:endParaRPr lang="en-US" altLang="en-US" b="1" u="sng"/>
          </a:p>
        </p:txBody>
      </p:sp>
      <p:sp>
        <p:nvSpPr>
          <p:cNvPr id="3" name="Content Placeholder 2"/>
          <p:cNvSpPr>
            <a:spLocks noGrp="1"/>
          </p:cNvSpPr>
          <p:nvPr>
            <p:ph idx="1"/>
          </p:nvPr>
        </p:nvSpPr>
        <p:spPr/>
        <p:txBody>
          <a:bodyPr/>
          <a:p>
            <a:r>
              <a:rPr lang="en-US" altLang="en-US"/>
              <a:t>Mobile App (Android &amp; Apple devices.</a:t>
            </a:r>
            <a:endParaRPr lang="en-US" altLang="en-US"/>
          </a:p>
          <a:p>
            <a:r>
              <a:rPr lang="en-US" altLang="en-US"/>
              <a:t>USSD/SMS integration for non-smartphones.</a:t>
            </a:r>
            <a:endParaRPr lang="en-US" altLang="en-US"/>
          </a:p>
          <a:p>
            <a:r>
              <a:rPr lang="en-US" altLang="en-US"/>
              <a:t>QR code validation.</a:t>
            </a:r>
            <a:endParaRPr lang="en-US" altLang="en-US"/>
          </a:p>
          <a:p>
            <a:r>
              <a:rPr lang="en-US" altLang="en-US"/>
              <a:t>Cloud-based backend.</a:t>
            </a:r>
            <a:endParaRPr lang="en-US" altLang="en-US"/>
          </a:p>
          <a:p>
            <a:r>
              <a:rPr lang="en-US" altLang="en-US"/>
              <a:t>Secure payment gateway integration</a:t>
            </a:r>
            <a:endParaRPr lang="en-US"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u="sng"/>
              <a:t>1.7 </a:t>
            </a:r>
            <a:r>
              <a:rPr lang="en-US" altLang="en-US" b="1" u="sng"/>
              <a:t>Implementation Plan</a:t>
            </a:r>
            <a:endParaRPr lang="en-US" altLang="en-US" b="1" u="sng"/>
          </a:p>
        </p:txBody>
      </p:sp>
      <p:sp>
        <p:nvSpPr>
          <p:cNvPr id="3" name="Content Placeholder 2"/>
          <p:cNvSpPr>
            <a:spLocks noGrp="1"/>
          </p:cNvSpPr>
          <p:nvPr>
            <p:ph idx="1"/>
          </p:nvPr>
        </p:nvSpPr>
        <p:spPr/>
        <p:txBody>
          <a:bodyPr/>
          <a:p>
            <a:r>
              <a:rPr lang="en-US" altLang="en-US" b="1"/>
              <a:t>Phase 1:</a:t>
            </a:r>
            <a:r>
              <a:rPr lang="en-US" altLang="en-US"/>
              <a:t> System design &amp; approvals.</a:t>
            </a:r>
            <a:endParaRPr lang="en-US" altLang="en-US"/>
          </a:p>
          <a:p>
            <a:r>
              <a:rPr lang="en-US" altLang="en-US" b="1"/>
              <a:t>Phase 2:</a:t>
            </a:r>
            <a:r>
              <a:rPr lang="en-US" altLang="en-US"/>
              <a:t> Development &amp; testing.</a:t>
            </a:r>
            <a:endParaRPr lang="en-US" altLang="en-US"/>
          </a:p>
          <a:p>
            <a:r>
              <a:rPr lang="en-US" altLang="en-US" b="1"/>
              <a:t>Phase 3:</a:t>
            </a:r>
            <a:r>
              <a:rPr lang="en-US" altLang="en-US"/>
              <a:t> Pilot on selected routes.</a:t>
            </a:r>
            <a:endParaRPr lang="en-US" altLang="en-US"/>
          </a:p>
          <a:p>
            <a:r>
              <a:rPr lang="en-US" altLang="en-US" b="1"/>
              <a:t>Phase 4:</a:t>
            </a:r>
            <a:r>
              <a:rPr lang="en-US" altLang="en-US"/>
              <a:t> Full deployment &amp; training</a:t>
            </a:r>
            <a:endParaRPr lang="en-US"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u="sng"/>
              <a:t>1.8 </a:t>
            </a:r>
            <a:r>
              <a:rPr lang="en-US" altLang="en-US" b="1" u="sng"/>
              <a:t>Timeline (Estimated)</a:t>
            </a:r>
            <a:endParaRPr lang="en-US" altLang="en-US" b="1" u="sng"/>
          </a:p>
        </p:txBody>
      </p:sp>
      <p:sp>
        <p:nvSpPr>
          <p:cNvPr id="3" name="Content Placeholder 2"/>
          <p:cNvSpPr>
            <a:spLocks noGrp="1"/>
          </p:cNvSpPr>
          <p:nvPr>
            <p:ph idx="1"/>
          </p:nvPr>
        </p:nvSpPr>
        <p:spPr/>
        <p:txBody>
          <a:bodyPr/>
          <a:p>
            <a:r>
              <a:rPr lang="en-US" sz="2400" b="1"/>
              <a:t>Development phase :</a:t>
            </a:r>
            <a:r>
              <a:rPr lang="en-US" sz="2400"/>
              <a:t> It may take 1 to 2 months to fully develop the mobile app and USSD gateaway (for non smart phones). </a:t>
            </a:r>
            <a:endParaRPr lang="en-US" sz="2400"/>
          </a:p>
          <a:p>
            <a:r>
              <a:rPr lang="en-US" sz="2400" b="1"/>
              <a:t>Testing phase:</a:t>
            </a:r>
            <a:r>
              <a:rPr lang="en-US" sz="2400"/>
              <a:t> The next step is to test and to debug the system checking if the system doesn’t have any errors and can be implemented easily which may take 1 month.</a:t>
            </a:r>
            <a:endParaRPr lang="en-US" sz="2400"/>
          </a:p>
          <a:p>
            <a:r>
              <a:rPr lang="en-US" sz="2400" b="1"/>
              <a:t>Deployment phase:</a:t>
            </a:r>
            <a:r>
              <a:rPr lang="en-US" sz="2400"/>
              <a:t> After making sure the system works perfectly then it will be deployed. the backend server side can be deployed on services like AWS,heroku etc.. and the app needs to be deployed on playstore and apple app store. for non smart phone Ethio telecom can provide MMI code or USSD code to integrate it with the ussd route.</a:t>
            </a:r>
            <a:endParaRPr lang="en-US" sz="24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u="sng"/>
              <a:t>1.9 </a:t>
            </a:r>
            <a:r>
              <a:rPr lang="en-US" altLang="en-US" b="1" u="sng"/>
              <a:t>Cost &amp; Sustainability (Overview)</a:t>
            </a:r>
            <a:endParaRPr lang="en-US" altLang="en-US" b="1" u="sng"/>
          </a:p>
        </p:txBody>
      </p:sp>
      <p:sp>
        <p:nvSpPr>
          <p:cNvPr id="3" name="Content Placeholder 2"/>
          <p:cNvSpPr>
            <a:spLocks noGrp="1"/>
          </p:cNvSpPr>
          <p:nvPr>
            <p:ph idx="1"/>
          </p:nvPr>
        </p:nvSpPr>
        <p:spPr/>
        <p:txBody>
          <a:bodyPr/>
          <a:p>
            <a:r>
              <a:rPr lang="en-US" sz="2400" b="1"/>
              <a:t>For backend hosting: </a:t>
            </a:r>
            <a:r>
              <a:rPr lang="en-US" sz="2400"/>
              <a:t>may cost estimated price of</a:t>
            </a:r>
            <a:r>
              <a:rPr lang="en-US" sz="2400" b="1"/>
              <a:t> </a:t>
            </a:r>
            <a:r>
              <a:rPr lang="en-US" altLang="en-US" sz="2400"/>
              <a:t>24,000etb – 80,000etb / month if cloud hosting serices like AWS,Azure or google cloud is used. and estimated price of 15,000 etb if local cloud hosting is used like Gojohost,hahucloud etc is used.</a:t>
            </a:r>
            <a:endParaRPr lang="en-US" altLang="en-US" sz="2400" b="1"/>
          </a:p>
          <a:p>
            <a:r>
              <a:rPr lang="en-US" altLang="en-US" sz="2400" b="1"/>
              <a:t>Ethio Telecom MMI (USSD): </a:t>
            </a:r>
            <a:r>
              <a:rPr lang="en-US" altLang="en-US" sz="2400"/>
              <a:t> for standard code estimated price is 5,000 etb - 10,000 etb just to have the USSD code if its premium it can exceed 25,000 etb. and 1,000-3,000 etb must be paid monthly to keep the number alive.</a:t>
            </a:r>
            <a:endParaRPr lang="en-US" altLang="en-US" sz="2400"/>
          </a:p>
          <a:p>
            <a:r>
              <a:rPr lang="en-US" altLang="en-US" sz="2400" b="1"/>
              <a:t>Bulk SMS:</a:t>
            </a:r>
            <a:r>
              <a:rPr lang="en-US" altLang="en-US" sz="2400"/>
              <a:t> ~0.15 – 0.25 ETB per message (used for ticket confirmations).</a:t>
            </a:r>
            <a:endParaRPr lang="en-US" altLang="en-US" sz="2400"/>
          </a:p>
        </p:txBody>
      </p:sp>
      <p:sp>
        <p:nvSpPr>
          <p:cNvPr id="4" name="Text Box 3"/>
          <p:cNvSpPr txBox="1"/>
          <p:nvPr/>
        </p:nvSpPr>
        <p:spPr>
          <a:xfrm>
            <a:off x="9260205" y="891540"/>
            <a:ext cx="4064000" cy="368300"/>
          </a:xfrm>
          <a:prstGeom prst="rect">
            <a:avLst/>
          </a:prstGeom>
          <a:noFill/>
        </p:spPr>
        <p:txBody>
          <a:bodyPr wrap="square" rtlCol="0">
            <a:spAutoFit/>
          </a:bodyPr>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u="sng"/>
              <a:t>1.10 </a:t>
            </a:r>
            <a:r>
              <a:rPr lang="en-US" altLang="en-US" b="1" u="sng"/>
              <a:t>Risk Management</a:t>
            </a:r>
            <a:endParaRPr lang="en-US" altLang="en-US" b="1" u="sng"/>
          </a:p>
        </p:txBody>
      </p:sp>
      <p:sp>
        <p:nvSpPr>
          <p:cNvPr id="3" name="Content Placeholder 2"/>
          <p:cNvSpPr>
            <a:spLocks noGrp="1"/>
          </p:cNvSpPr>
          <p:nvPr>
            <p:ph idx="1"/>
          </p:nvPr>
        </p:nvSpPr>
        <p:spPr/>
        <p:txBody>
          <a:bodyPr/>
          <a:p>
            <a:r>
              <a:rPr lang="en-US" altLang="en-US"/>
              <a:t>Network issues → Offline ticket validation</a:t>
            </a:r>
            <a:endParaRPr lang="en-US" altLang="en-US"/>
          </a:p>
          <a:p>
            <a:r>
              <a:rPr lang="en-US" altLang="en-US"/>
              <a:t>User adoption → Public awareness &amp; training</a:t>
            </a:r>
            <a:endParaRPr lang="en-US" altLang="en-US"/>
          </a:p>
          <a:p>
            <a:r>
              <a:rPr lang="en-US" altLang="en-US"/>
              <a:t>Technical failures → Monitoring &amp; support</a:t>
            </a:r>
            <a:endParaRPr lang="en-US"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5708</Words>
  <Application>WPS Presentation</Application>
  <PresentationFormat>Widescreen</PresentationFormat>
  <Paragraphs>85</Paragraphs>
  <Slides>14</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14</vt:i4>
      </vt:variant>
    </vt:vector>
  </HeadingPairs>
  <TitlesOfParts>
    <vt:vector size="22" baseType="lpstr">
      <vt:lpstr>Arial</vt:lpstr>
      <vt:lpstr>SimSun</vt:lpstr>
      <vt:lpstr>Wingdings</vt:lpstr>
      <vt:lpstr>Calibri Light</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
  <cp:lastModifiedBy>sam</cp:lastModifiedBy>
  <cp:revision>77</cp:revision>
  <dcterms:created xsi:type="dcterms:W3CDTF">2025-07-23T00:59:00Z</dcterms:created>
  <dcterms:modified xsi:type="dcterms:W3CDTF">2026-01-14T05:44:16Z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14AE64CE56CA4BD19B8A71E4DD6FEF51_11</vt:lpwstr>
  </property>
  <property fmtid="{D5CDD505-2E9C-101B-9397-08002B2CF9AE}" pid="3" name="KSOProductBuildVer">
    <vt:lpwstr>1033-12.2.0.23196</vt:lpwstr>
  </property>
</Properties>
</file>